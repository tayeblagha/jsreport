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3917DC-B20A-4F24-BEDE-B4374384E13B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28AF9E-49DB-4273-B053-C3D9BA696C3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3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7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1440"/>
            <a:ext cx="9132120" cy="51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91440" y="475488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446520" y="1028880"/>
            <a:ext cx="228240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6"/>
          <p:cNvSpPr/>
          <p:nvPr/>
        </p:nvSpPr>
        <p:spPr>
          <a:xfrm>
            <a:off x="1800000" y="3960000"/>
            <a:ext cx="12578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{{overallScore}}%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7"/>
          <p:cNvSpPr/>
          <p:nvPr/>
        </p:nvSpPr>
        <p:spPr>
          <a:xfrm>
            <a:off x="1443600" y="3840480"/>
            <a:ext cx="1368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Overall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8"/>
          <p:cNvSpPr/>
          <p:nvPr/>
        </p:nvSpPr>
        <p:spPr>
          <a:xfrm>
            <a:off x="3060000" y="3960000"/>
            <a:ext cx="14187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{{leadership.leadershipScore}}%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9"/>
          <p:cNvSpPr/>
          <p:nvPr/>
        </p:nvSpPr>
        <p:spPr>
          <a:xfrm>
            <a:off x="2632320" y="3840480"/>
            <a:ext cx="1368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Leadership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0"/>
          <p:cNvSpPr/>
          <p:nvPr/>
        </p:nvSpPr>
        <p:spPr>
          <a:xfrm>
            <a:off x="4176000" y="3960000"/>
            <a:ext cx="113292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{{technical.technicalScore}}%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1"/>
          <p:cNvSpPr/>
          <p:nvPr/>
        </p:nvSpPr>
        <p:spPr>
          <a:xfrm>
            <a:off x="3821040" y="3840480"/>
            <a:ext cx="1368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Technical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2"/>
          <p:cNvSpPr/>
          <p:nvPr/>
        </p:nvSpPr>
        <p:spPr>
          <a:xfrm>
            <a:off x="5472000" y="3960000"/>
            <a:ext cx="9882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100" strike="noStrike" u="none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{{ behavioral</a:t>
            </a:r>
            <a:r>
              <a:rPr b="1" lang="en-US" sz="11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.behavioralScore}}</a:t>
            </a:r>
            <a:r>
              <a:rPr b="0" lang="en-US" sz="1100" strike="noStrike" u="none">
                <a:solidFill>
                  <a:srgbClr val="183349"/>
                </a:solidFill>
                <a:effectLst/>
                <a:uFillTx/>
                <a:latin typeface="Calibri"/>
                <a:ea typeface="Arial"/>
              </a:rPr>
              <a:t>%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3"/>
          <p:cNvSpPr/>
          <p:nvPr/>
        </p:nvSpPr>
        <p:spPr>
          <a:xfrm>
            <a:off x="5009760" y="3840480"/>
            <a:ext cx="1368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Behavioral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4"/>
          <p:cNvSpPr/>
          <p:nvPr/>
        </p:nvSpPr>
        <p:spPr>
          <a:xfrm>
            <a:off x="6768000" y="3960000"/>
            <a:ext cx="11674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{{cognitive.cognitiveScore}}%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5"/>
          <p:cNvSpPr/>
          <p:nvPr/>
        </p:nvSpPr>
        <p:spPr>
          <a:xfrm>
            <a:off x="6198480" y="3840480"/>
            <a:ext cx="1368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Cognitive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6"/>
          <p:cNvSpPr/>
          <p:nvPr/>
        </p:nvSpPr>
        <p:spPr>
          <a:xfrm>
            <a:off x="7920000" y="3960000"/>
            <a:ext cx="12578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200" strike="noStrike" u="none">
                <a:solidFill>
                  <a:srgbClr val="183349"/>
                </a:solidFill>
                <a:effectLst/>
                <a:uFillTx/>
                <a:latin typeface="Calibri"/>
              </a:rPr>
              <a:t>{{ personality.personalityScore  }}%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7"/>
          <p:cNvSpPr/>
          <p:nvPr/>
        </p:nvSpPr>
        <p:spPr>
          <a:xfrm>
            <a:off x="7387200" y="3840480"/>
            <a:ext cx="1368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Personality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73040" y="712080"/>
            <a:ext cx="2739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1"/>
          <p:cNvSpPr/>
          <p:nvPr/>
        </p:nvSpPr>
        <p:spPr>
          <a:xfrm>
            <a:off x="2788920" y="1069920"/>
            <a:ext cx="2145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 firstCharUpper 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firstName}} {{  firstCharUpper 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lastName}}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2788920" y="1340640"/>
            <a:ext cx="2145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{{roleName}}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2788920" y="1611720"/>
            <a:ext cx="21452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</a:rPr>
              <a:t>{{assessmentName}}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4" descr=""/>
          <p:cNvPicPr/>
          <p:nvPr/>
        </p:nvPicPr>
        <p:blipFill>
          <a:blip r:embed="rId2"/>
          <a:stretch/>
        </p:blipFill>
        <p:spPr>
          <a:xfrm>
            <a:off x="7995240" y="725760"/>
            <a:ext cx="641880" cy="19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5" descr=""/>
          <p:cNvPicPr/>
          <p:nvPr/>
        </p:nvPicPr>
        <p:blipFill>
          <a:blip r:embed="rId3"/>
          <a:stretch/>
        </p:blipFill>
        <p:spPr>
          <a:xfrm>
            <a:off x="7151760" y="729000"/>
            <a:ext cx="641880" cy="19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Picture 18" descr=""/>
          <p:cNvPicPr/>
          <p:nvPr/>
        </p:nvPicPr>
        <p:blipFill>
          <a:blip r:embed="rId4"/>
          <a:stretch/>
        </p:blipFill>
        <p:spPr>
          <a:xfrm>
            <a:off x="5465160" y="726120"/>
            <a:ext cx="641880" cy="19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9" descr=""/>
          <p:cNvPicPr/>
          <p:nvPr/>
        </p:nvPicPr>
        <p:blipFill>
          <a:blip r:embed="rId5"/>
          <a:stretch/>
        </p:blipFill>
        <p:spPr>
          <a:xfrm>
            <a:off x="4622040" y="726120"/>
            <a:ext cx="64188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Box 20"/>
          <p:cNvSpPr/>
          <p:nvPr/>
        </p:nvSpPr>
        <p:spPr>
          <a:xfrm>
            <a:off x="7999560" y="494280"/>
            <a:ext cx="641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Overqualified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21"/>
          <p:cNvSpPr/>
          <p:nvPr/>
        </p:nvSpPr>
        <p:spPr>
          <a:xfrm>
            <a:off x="7153920" y="488880"/>
            <a:ext cx="641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Expert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23"/>
          <p:cNvSpPr/>
          <p:nvPr/>
        </p:nvSpPr>
        <p:spPr>
          <a:xfrm>
            <a:off x="5465160" y="491760"/>
            <a:ext cx="641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Intermediate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24"/>
          <p:cNvSpPr/>
          <p:nvPr/>
        </p:nvSpPr>
        <p:spPr>
          <a:xfrm>
            <a:off x="4626360" y="491760"/>
            <a:ext cx="641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1371600" y="2148840"/>
            <a:ext cx="7128720" cy="11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"/>
          <p:cNvSpPr/>
          <p:nvPr/>
        </p:nvSpPr>
        <p:spPr>
          <a:xfrm>
            <a:off x="4626360" y="779400"/>
            <a:ext cx="641880" cy="1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Foundation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1" descr=""/>
          <p:cNvPicPr/>
          <p:nvPr/>
        </p:nvPicPr>
        <p:blipFill>
          <a:blip r:embed="rId6"/>
          <a:stretch/>
        </p:blipFill>
        <p:spPr>
          <a:xfrm>
            <a:off x="6278400" y="726480"/>
            <a:ext cx="64188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"/>
          <p:cNvSpPr/>
          <p:nvPr/>
        </p:nvSpPr>
        <p:spPr>
          <a:xfrm>
            <a:off x="6345720" y="735120"/>
            <a:ext cx="6354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Advanced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800000" y="1980000"/>
            <a:ext cx="6658560" cy="11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{{ternary (eq gender "Female") "Mrs" "Mr"}}. {{firstCharUpper firstName}} {{ firstCharUpper lastName}} has secured the {{overallLevelName}} Level of the role {{assessmentName}} with an Overall Score of  {{overallScore}}%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trike="noStrike" u="none">
                <a:solidFill>
                  <a:srgbClr val="183349"/>
                </a:solidFill>
                <a:effectLst/>
                <a:uFillTx/>
                <a:latin typeface="Calibri"/>
                <a:ea typeface="Liberation Mono;Courier New;DejaVu Sans Mono;Lucida Sans Typewriter"/>
              </a:rPr>
              <a:t> 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trike="noStrike" u="none">
                <a:solidFill>
                  <a:srgbClr val="183349"/>
                </a:solidFill>
                <a:effectLst/>
                <a:uFillTx/>
                <a:latin typeface="Calibri"/>
                <a:ea typeface="Liberation Mono;Courier New;DejaVu Sans Mono;Lucida Sans Typewriter"/>
              </a:rPr>
              <a:t> To further elevate her skills and achieve the Expert Level, She should accomplish the recommended individual development plan.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140000" y="2880000"/>
            <a:ext cx="3239280" cy="82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 2"/>
          <p:cNvGrpSpPr/>
          <p:nvPr/>
        </p:nvGrpSpPr>
        <p:grpSpPr>
          <a:xfrm>
            <a:off x="1440360" y="2520360"/>
            <a:ext cx="1439640" cy="1259640"/>
            <a:chOff x="1440360" y="2520360"/>
            <a:chExt cx="1439640" cy="1259640"/>
          </a:xfrm>
        </p:grpSpPr>
        <p:pic>
          <p:nvPicPr>
            <p:cNvPr id="42" name="Picture 2" descr=""/>
            <p:cNvPicPr/>
            <p:nvPr/>
          </p:nvPicPr>
          <p:blipFill>
            <a:blip r:embed="rId7"/>
            <a:stretch/>
          </p:blipFill>
          <p:spPr>
            <a:xfrm>
              <a:off x="1440360" y="2520360"/>
              <a:ext cx="1439640" cy="107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TextBox 2"/>
            <p:cNvSpPr/>
            <p:nvPr/>
          </p:nvSpPr>
          <p:spPr>
            <a:xfrm>
              <a:off x="1464120" y="2616840"/>
              <a:ext cx="1415880" cy="11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{{pptxImage src=(getChartUrl “98,png”) width="200px" height="100px"}}</a:t>
              </a:r>
              <a:endPara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  <a:p>
              <a:pPr defTabSz="914400">
                <a:lnSpc>
                  <a:spcPct val="100000"/>
                </a:lnSpc>
              </a:pPr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3135</TotalTime>
  <Application>LibreOffice/25.2.7.2$Windows_X86_64 LibreOffice_project/5cbfd1ab6520636bb5f7b99185aa69bd7456825d</Application>
  <AppVersion>15.0000</AppVersion>
  <Words>12144</Words>
  <Paragraphs>424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2025-08-14T15:20:57Z</dcterms:created>
  <dc:creator>PptxGenJS</dc:creator>
  <dc:description/>
  <dc:language>fr-FR</dc:language>
  <cp:lastModifiedBy/>
  <dcterms:modified xsi:type="dcterms:W3CDTF">2025-12-06T15:08:44Z</dcterms:modified>
  <cp:revision>227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